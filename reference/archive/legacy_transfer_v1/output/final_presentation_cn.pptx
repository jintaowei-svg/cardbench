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screen16x9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nd 3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2D3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411480" y="50292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50" b="1">
                <a:solidFill>
                  <a:srgbClr val="DCE6F2"/>
                </a:solidFill>
                <a:latin typeface="Arial" panose="020B0604020202020204"/>
                <a:ea typeface="微软雅黑" panose="020B0503020204020204" charset="-122"/>
              </a:rPr>
              <a:t>组会论文汇报</a:t>
            </a:r>
            <a:r>
              <a:rPr lang="en-US" altLang="zh-CN" sz="1150" b="1">
                <a:solidFill>
                  <a:srgbClr val="DCE6F2"/>
                </a:solidFill>
                <a:latin typeface="Arial" panose="020B0604020202020204"/>
                <a:ea typeface="微软雅黑" panose="020B0503020204020204" charset="-122"/>
              </a:rPr>
              <a:t> 2025</a:t>
            </a:r>
            <a:r>
              <a:rPr lang="zh-CN" sz="1150">
                <a:solidFill>
                  <a:srgbClr val="DCE6F2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EMNLP</a:t>
            </a:r>
            <a:r>
              <a:rPr lang="en-US" altLang="zh-CN" sz="1150" b="1">
                <a:solidFill>
                  <a:srgbClr val="DCE6F2"/>
                </a:solidFill>
                <a:latin typeface="Arial" panose="020B0604020202020204"/>
                <a:ea typeface="微软雅黑" panose="020B0503020204020204" charset="-122"/>
              </a:rPr>
              <a:t> </a:t>
            </a:r>
            <a:endParaRPr lang="en-US" altLang="zh-CN" sz="1150" b="1">
              <a:solidFill>
                <a:srgbClr val="DCE6F2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411480" y="1143000"/>
            <a:ext cx="2560320" cy="35058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altLang="zh-CN"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AgentMaster: A Multi-Agent Conversational Framework Using A2A and</a:t>
            </a:r>
            <a:endParaRPr lang="en-US" altLang="zh-CN" sz="17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r>
              <a:rPr lang="en-US" altLang="zh-CN"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MCP Protocols for Multimodal Information Retrieval and Analysis</a:t>
            </a:r>
            <a:endParaRPr lang="en-US" altLang="zh-CN" sz="17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br>
              <a:rPr lang="zh-CN"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</a:br>
            <a:br>
              <a:rPr lang="zh-CN"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</a:br>
            <a:r>
              <a:rPr lang="zh-CN"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A2A 负责智能体间协作
MCP 负责工具与上下文接口</a:t>
            </a:r>
            <a:br>
              <a:rPr lang="zh-CN" sz="17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</a:br>
            <a:endParaRPr lang="en-US" altLang="zh-CN" sz="17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411480" y="5166360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DCE6F2"/>
                </a:solidFill>
                <a:latin typeface="Arial" panose="020B0604020202020204"/>
                <a:ea typeface="微软雅黑" panose="020B0503020204020204" charset="-122"/>
              </a:rPr>
              <a:t>Callie C. Liao, Duoduo Liao, Sai Surya Gadiraju
EMNLP 2025 System Demonstrations</a:t>
            </a:r>
            <a:endParaRPr lang="zh-CN" sz="760">
              <a:solidFill>
                <a:srgbClr val="DCE6F2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7" name="Image 7" descr="fig1_general_frame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855" y="685800"/>
            <a:ext cx="4467610" cy="52578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3703320" y="6053328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90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论文主张：通过统一会话入口、协调器、A2A 通信和 MCP 工具层，将多模态检索任务拆解并路由给专门智能体。</a:t>
            </a:r>
            <a:endParaRPr lang="zh-CN" sz="90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Liao et al., EMNLP 2025 System Demonstrations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现有 LLM-MAS 的瓶颈集中在协作与工具接入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and 4"/>
          <p:cNvSpPr/>
          <p:nvPr/>
        </p:nvSpPr>
        <p:spPr>
          <a:xfrm>
            <a:off x="731520" y="1234440"/>
            <a:ext cx="4754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" name="Band 5"/>
          <p:cNvSpPr/>
          <p:nvPr/>
        </p:nvSpPr>
        <p:spPr>
          <a:xfrm>
            <a:off x="731520" y="1234440"/>
            <a:ext cx="109728" cy="109728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1024128" y="1417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通信</a:t>
            </a:r>
            <a:endParaRPr lang="zh-CN" sz="12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1874520" y="141732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智能体之间缺少结构化协议，协作常靠临时约定。</a:t>
            </a:r>
            <a:endParaRPr lang="zh-CN" sz="11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6172200" y="1234440"/>
            <a:ext cx="4754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Band 9"/>
          <p:cNvSpPr/>
          <p:nvPr/>
        </p:nvSpPr>
        <p:spPr>
          <a:xfrm>
            <a:off x="6172200" y="1234440"/>
            <a:ext cx="109728" cy="1097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6464808" y="1417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工具</a:t>
            </a:r>
            <a:endParaRPr lang="zh-CN" sz="125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7315200" y="141732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异构数据库、API、图像模型接入方式不统一。</a:t>
            </a:r>
            <a:endParaRPr lang="zh-CN" sz="11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Band 12"/>
          <p:cNvSpPr/>
          <p:nvPr/>
        </p:nvSpPr>
        <p:spPr>
          <a:xfrm>
            <a:off x="731520" y="3200400"/>
            <a:ext cx="4754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3" name="Band 13"/>
          <p:cNvSpPr/>
          <p:nvPr/>
        </p:nvSpPr>
        <p:spPr>
          <a:xfrm>
            <a:off x="731520" y="3200400"/>
            <a:ext cx="109728" cy="109728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024128" y="33832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E9B44C"/>
                </a:solidFill>
                <a:latin typeface="Arial" panose="020B0604020202020204"/>
                <a:ea typeface="微软雅黑" panose="020B0503020204020204" charset="-122"/>
              </a:rPr>
              <a:t>状态</a:t>
            </a:r>
            <a:endParaRPr lang="zh-CN" sz="1250" b="1">
              <a:solidFill>
                <a:srgbClr val="E9B44C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1874520" y="338328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多轮任务缺共享上下文，难以稳定追踪中间结果。</a:t>
            </a:r>
            <a:endParaRPr lang="zh-CN" sz="11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Band 16"/>
          <p:cNvSpPr/>
          <p:nvPr/>
        </p:nvSpPr>
        <p:spPr>
          <a:xfrm>
            <a:off x="6172200" y="3200400"/>
            <a:ext cx="4754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7" name="Band 17"/>
          <p:cNvSpPr/>
          <p:nvPr/>
        </p:nvSpPr>
        <p:spPr>
          <a:xfrm>
            <a:off x="6172200" y="3200400"/>
            <a:ext cx="109728" cy="1097280"/>
          </a:xfrm>
          <a:prstGeom prst="rect">
            <a:avLst/>
          </a:prstGeom>
          <a:solidFill>
            <a:srgbClr val="E56B6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6464808" y="33832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E56B6F"/>
                </a:solidFill>
                <a:latin typeface="Arial" panose="020B0604020202020204"/>
                <a:ea typeface="微软雅黑" panose="020B0503020204020204" charset="-122"/>
              </a:rPr>
              <a:t>路由</a:t>
            </a:r>
            <a:endParaRPr lang="zh-CN" sz="1250" b="1">
              <a:solidFill>
                <a:srgbClr val="E56B6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7315200" y="338328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复杂查询需要拆解、分派、回收与合成。</a:t>
            </a:r>
            <a:endParaRPr lang="zh-CN" sz="11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0" name="Band 20"/>
          <p:cNvSpPr/>
          <p:nvPr/>
        </p:nvSpPr>
        <p:spPr>
          <a:xfrm>
            <a:off x="731520" y="5440680"/>
            <a:ext cx="10744200" cy="5029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14400" y="5568696"/>
            <a:ext cx="99669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作者要解决的不是“再做一个 agent”，而是把 agent 通信与工具上下文管理标准化。</a:t>
            </a:r>
            <a:endParaRPr lang="zh-CN" sz="105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Liao et al., EMNLP 2025 System Demonstrations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AgentMaster 的核心假设：A2A 与 MCP 分工互补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85800" y="11430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70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A2A Protocol</a:t>
            </a:r>
            <a:endParaRPr lang="zh-CN" sz="170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8229600" y="11430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70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MCP</a:t>
            </a:r>
            <a:endParaRPr lang="zh-CN" sz="170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Band 6"/>
          <p:cNvSpPr/>
          <p:nvPr/>
        </p:nvSpPr>
        <p:spPr>
          <a:xfrm>
            <a:off x="777240" y="1828800"/>
            <a:ext cx="2743200" cy="1828800"/>
          </a:xfrm>
          <a:prstGeom prst="rect">
            <a:avLst/>
          </a:prstGeom>
          <a:solidFill>
            <a:srgbClr val="F3FBFC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005840" y="214884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Font typeface="Arial" panose="020B0604020202020204"/>
              <a:buChar char="•"/>
            </a:pPr>
            <a:r>
              <a:rPr lang="zh-CN" sz="9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结构化消息交换</a:t>
            </a:r>
            <a:endParaRPr lang="zh-CN" sz="9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任务分派与协调</a:t>
            </a:r>
            <a:endParaRPr lang="zh-CN" sz="9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多智能体路由</a:t>
            </a:r>
            <a:endParaRPr lang="zh-CN" sz="9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8321040" y="1828800"/>
            <a:ext cx="2743200" cy="1828800"/>
          </a:xfrm>
          <a:prstGeom prst="rect">
            <a:avLst/>
          </a:prstGeom>
          <a:solidFill>
            <a:srgbClr val="F3FBF8"/>
          </a:solidFill>
          <a:ln w="9525">
            <a:solidFill>
              <a:srgbClr val="2A9D8F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8549640" y="214884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Font typeface="Arial" panose="020B0604020202020204"/>
              <a:buChar char="•"/>
            </a:pPr>
            <a:r>
              <a:rPr lang="zh-CN" sz="9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工具/资源访问</a:t>
            </a:r>
            <a:endParaRPr lang="zh-CN" sz="9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上下文与状态管理</a:t>
            </a:r>
            <a:endParaRPr lang="zh-CN" sz="9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外部 API 封装</a:t>
            </a:r>
            <a:endParaRPr lang="zh-CN" sz="9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3977640" y="2212848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5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Coordinator Agent</a:t>
            </a:r>
            <a:endParaRPr lang="zh-CN" sz="15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3977640" y="2743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0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复杂查询 → 子任务 → 专门智能体 → 结果合成</a:t>
            </a:r>
            <a:endParaRPr lang="zh-CN" sz="10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3611880" y="26974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00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lang="zh-CN" sz="200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7818120" y="26974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00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lang="zh-CN" sz="200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Band 14"/>
          <p:cNvSpPr/>
          <p:nvPr/>
        </p:nvSpPr>
        <p:spPr>
          <a:xfrm>
            <a:off x="1005840" y="4800600"/>
            <a:ext cx="9966960" cy="594360"/>
          </a:xfrm>
          <a:prstGeom prst="rect">
            <a:avLst/>
          </a:prstGeom>
          <a:solidFill>
            <a:srgbClr val="1E2D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1234440" y="4956048"/>
            <a:ext cx="9418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一句话：A2A 管“谁和谁协作”，MCP 管“协作时调用什么工具和上下文”。</a:t>
            </a:r>
            <a:endParaRPr lang="zh-CN" sz="10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Liao et al., EMNLP 2025 System Demonstrations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总框架把会话、协调、协议和状态层串成闭环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Image 4" descr="fig1_general_frame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70" y="914400"/>
            <a:ext cx="4506459" cy="5303520"/>
          </a:xfrm>
          <a:prstGeom prst="rect">
            <a:avLst/>
          </a:prstGeom>
        </p:spPr>
      </p:pic>
      <p:sp>
        <p:nvSpPr>
          <p:cNvPr id="5" name="Band 5"/>
          <p:cNvSpPr/>
          <p:nvPr/>
        </p:nvSpPr>
        <p:spPr>
          <a:xfrm>
            <a:off x="7543800" y="1051560"/>
            <a:ext cx="379476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818120" y="132588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3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读图顺序</a:t>
            </a:r>
            <a:endParaRPr lang="zh-CN" sz="13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7818120" y="1828800"/>
            <a:ext cx="315468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Font typeface="Arial" panose="020B0604020202020204"/>
              <a:buChar char="•"/>
            </a:pPr>
            <a:r>
              <a:rPr lang="zh-CN" sz="9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用户通过统一界面输入多模态请求</a:t>
            </a:r>
            <a:endParaRPr lang="zh-CN" sz="9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Orchestrator 负责拆解与任务路由</a:t>
            </a:r>
            <a:endParaRPr lang="zh-CN" sz="9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Domain / General agents 通过 A2A 协作</a:t>
            </a:r>
            <a:endParaRPr lang="zh-CN" sz="9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MCP 层封装工具、缓存和向量数据库</a:t>
            </a:r>
            <a:endParaRPr lang="zh-CN" sz="9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7818120" y="4526280"/>
            <a:ext cx="3154680" cy="530352"/>
          </a:xfrm>
          <a:prstGeom prst="rect">
            <a:avLst/>
          </a:prstGeom>
          <a:solidFill>
            <a:srgbClr val="F3FBFC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8001000" y="466344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框架贡献：把协议层变成可替换、可扩展的系统接口。</a:t>
            </a:r>
            <a:endParaRPr lang="zh-CN" sz="76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Fig. 1,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案例系统把检索任务落到 Flask + Coordinator + Retrieval Agents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Image 4" descr="fig2_case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830" y="960120"/>
            <a:ext cx="10241580" cy="4251960"/>
          </a:xfrm>
          <a:prstGeom prst="rect">
            <a:avLst/>
          </a:prstGeom>
        </p:spPr>
      </p:pic>
      <p:sp>
        <p:nvSpPr>
          <p:cNvPr id="5" name="Band 5"/>
          <p:cNvSpPr/>
          <p:nvPr/>
        </p:nvSpPr>
        <p:spPr>
          <a:xfrm>
            <a:off x="731520" y="5440680"/>
            <a:ext cx="10744200" cy="54864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914400" y="5586984"/>
            <a:ext cx="10149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98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重点：复杂度检查决定走单智能体 MCP 调用，还是走 Agent Clients 触发多智能体协作。</a:t>
            </a:r>
            <a:endParaRPr lang="zh-CN" sz="98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Fig. 2,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端到端流程的关键在“先判断复杂度，再选择路径”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and 4"/>
          <p:cNvSpPr/>
          <p:nvPr/>
        </p:nvSpPr>
        <p:spPr>
          <a:xfrm>
            <a:off x="640080" y="196596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49808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1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868680" y="218541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User query
文本/图像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Band 7"/>
          <p:cNvSpPr/>
          <p:nvPr/>
        </p:nvSpPr>
        <p:spPr>
          <a:xfrm>
            <a:off x="2148840" y="196596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2258568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2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2377440" y="218541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Flask server
统一入口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Band 10"/>
          <p:cNvSpPr/>
          <p:nvPr/>
        </p:nvSpPr>
        <p:spPr>
          <a:xfrm>
            <a:off x="3703320" y="196596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3813048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3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3931920" y="218541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Coordinator
复杂度判断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Band 13"/>
          <p:cNvSpPr/>
          <p:nvPr/>
        </p:nvSpPr>
        <p:spPr>
          <a:xfrm>
            <a:off x="5440680" y="123444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2A9D8F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5550408" y="134416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4a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5669280" y="145389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Simple
MCP client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Band 16"/>
          <p:cNvSpPr/>
          <p:nvPr/>
        </p:nvSpPr>
        <p:spPr>
          <a:xfrm>
            <a:off x="5440680" y="274320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2A9D8F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5550408" y="285292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4b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5669280" y="296265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Complex
Agent clients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9" name="Band 19"/>
          <p:cNvSpPr/>
          <p:nvPr/>
        </p:nvSpPr>
        <p:spPr>
          <a:xfrm>
            <a:off x="7315200" y="196596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424928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5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7543800" y="218541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Retrieval agents
IR / SQL / Image / General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2" name="Band 22"/>
          <p:cNvSpPr/>
          <p:nvPr/>
        </p:nvSpPr>
        <p:spPr>
          <a:xfrm>
            <a:off x="9601200" y="1965960"/>
            <a:ext cx="1325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9710928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5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6</a:t>
            </a:r>
            <a:endParaRPr lang="zh-CN" sz="75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9829800" y="2185416"/>
            <a:ext cx="914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6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LLM synthesis
合成回答</a:t>
            </a:r>
            <a:endParaRPr lang="zh-CN" sz="76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1783080" y="21671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600" b="1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lang="zh-CN" sz="1600" b="1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3291840" y="21671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600" b="1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lang="zh-CN" sz="1600" b="1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7" name="Text 27"/>
          <p:cNvSpPr txBox="1"/>
          <p:nvPr/>
        </p:nvSpPr>
        <p:spPr>
          <a:xfrm>
            <a:off x="6812280" y="21671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600" b="1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lang="zh-CN" sz="1600" b="1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9144000" y="21671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600" b="1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lang="zh-CN" sz="1600" b="1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4919472" y="160020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↗</a:t>
            </a:r>
            <a:endParaRPr lang="zh-CN" sz="180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0" name="Text 30"/>
          <p:cNvSpPr txBox="1"/>
          <p:nvPr/>
        </p:nvSpPr>
        <p:spPr>
          <a:xfrm>
            <a:off x="4919472" y="297180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80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↘</a:t>
            </a:r>
            <a:endParaRPr lang="zh-CN" sz="180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1" name="Band 31"/>
          <p:cNvSpPr/>
          <p:nvPr/>
        </p:nvSpPr>
        <p:spPr>
          <a:xfrm>
            <a:off x="822960" y="4983480"/>
            <a:ext cx="10469880" cy="594360"/>
          </a:xfrm>
          <a:prstGeom prst="rect">
            <a:avLst/>
          </a:prstGeom>
          <a:solidFill>
            <a:srgbClr val="F3FB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1005840" y="5138928"/>
            <a:ext cx="10012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98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这个流程解释了后文评估：复杂查询拆分是否合理、路由是否正确、最终回答是否语义一致。</a:t>
            </a:r>
            <a:endParaRPr lang="zh-CN" sz="98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Liao et al., EMNLP 2025 System Demonstrations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复杂查询被拆成可验证的子任务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Image 4" descr="fig3a_frontend_answ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3788"/>
            <a:ext cx="4846320" cy="2975984"/>
          </a:xfrm>
          <a:prstGeom prst="rect">
            <a:avLst/>
          </a:prstGeom>
        </p:spPr>
      </p:pic>
      <p:pic>
        <p:nvPicPr>
          <p:cNvPr id="5" name="Image 5" descr="fig3b_backend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381679"/>
            <a:ext cx="6172200" cy="2037241"/>
          </a:xfrm>
          <a:prstGeom prst="rect">
            <a:avLst/>
          </a:prstGeom>
        </p:spPr>
      </p:pic>
      <p:sp>
        <p:nvSpPr>
          <p:cNvPr id="6" name="Band 6"/>
          <p:cNvSpPr/>
          <p:nvPr/>
        </p:nvSpPr>
        <p:spPr>
          <a:xfrm>
            <a:off x="5577840" y="4160520"/>
            <a:ext cx="5897880" cy="685800"/>
          </a:xfrm>
          <a:prstGeom prst="rect">
            <a:avLst/>
          </a:prstGeom>
          <a:solidFill>
            <a:srgbClr val="FFF8EF"/>
          </a:solidFill>
          <a:ln w="9525">
            <a:solidFill>
              <a:srgbClr val="E9B44C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5806440" y="4315968"/>
            <a:ext cx="5440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8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示例：一个桥梁问题被拆成定义、总数、2019 年列表三个子问题。</a:t>
            </a:r>
            <a:endParaRPr lang="zh-CN" sz="8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594360" y="507492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98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解读：系统输出本身不是唯一证据；作者进一步把子问题单独提交，用单查询结果验证复合回答的一致性。</a:t>
            </a:r>
            <a:endParaRPr lang="zh-CN" sz="98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Fig. 3a-b,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复杂任务评估围绕“拆解路径是否正确”展开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and 4"/>
          <p:cNvSpPr/>
          <p:nvPr/>
        </p:nvSpPr>
        <p:spPr>
          <a:xfrm>
            <a:off x="685800" y="1143000"/>
            <a:ext cx="1097280" cy="438912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58952" y="1207008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查询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Band 6"/>
          <p:cNvSpPr/>
          <p:nvPr/>
        </p:nvSpPr>
        <p:spPr>
          <a:xfrm>
            <a:off x="1783080" y="1143000"/>
            <a:ext cx="1508760" cy="438912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856232" y="1207008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子问题数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3291840" y="1143000"/>
            <a:ext cx="3749040" cy="438912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3364992" y="1207008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分派路径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Band 10"/>
          <p:cNvSpPr/>
          <p:nvPr/>
        </p:nvSpPr>
        <p:spPr>
          <a:xfrm>
            <a:off x="685800" y="1581912"/>
            <a:ext cx="109728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758952" y="1645920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Q1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Band 12"/>
          <p:cNvSpPr/>
          <p:nvPr/>
        </p:nvSpPr>
        <p:spPr>
          <a:xfrm>
            <a:off x="1783080" y="1581912"/>
            <a:ext cx="150876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1856232" y="1645920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3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Band 14"/>
          <p:cNvSpPr/>
          <p:nvPr/>
        </p:nvSpPr>
        <p:spPr>
          <a:xfrm>
            <a:off x="3291840" y="1581912"/>
            <a:ext cx="374904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3364992" y="1645920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General, SQL, SQL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Band 16"/>
          <p:cNvSpPr/>
          <p:nvPr/>
        </p:nvSpPr>
        <p:spPr>
          <a:xfrm>
            <a:off x="685800" y="2020824"/>
            <a:ext cx="10972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758952" y="2084832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Q2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8" name="Band 18"/>
          <p:cNvSpPr/>
          <p:nvPr/>
        </p:nvSpPr>
        <p:spPr>
          <a:xfrm>
            <a:off x="1783080" y="2020824"/>
            <a:ext cx="15087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1856232" y="2084832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3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0" name="Band 20"/>
          <p:cNvSpPr/>
          <p:nvPr/>
        </p:nvSpPr>
        <p:spPr>
          <a:xfrm>
            <a:off x="3291840" y="2020824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3364992" y="2084832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IR, SQL, SQL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2" name="Band 22"/>
          <p:cNvSpPr/>
          <p:nvPr/>
        </p:nvSpPr>
        <p:spPr>
          <a:xfrm>
            <a:off x="685800" y="2459736"/>
            <a:ext cx="109728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58952" y="2523744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Q3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4" name="Band 24"/>
          <p:cNvSpPr/>
          <p:nvPr/>
        </p:nvSpPr>
        <p:spPr>
          <a:xfrm>
            <a:off x="1783080" y="2459736"/>
            <a:ext cx="150876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1856232" y="2523744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5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6" name="Band 26"/>
          <p:cNvSpPr/>
          <p:nvPr/>
        </p:nvSpPr>
        <p:spPr>
          <a:xfrm>
            <a:off x="3291840" y="2459736"/>
            <a:ext cx="374904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3364992" y="2523744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mixed IR / SQL routing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8" name="Band 28"/>
          <p:cNvSpPr/>
          <p:nvPr/>
        </p:nvSpPr>
        <p:spPr>
          <a:xfrm>
            <a:off x="685800" y="2898648"/>
            <a:ext cx="10972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758952" y="2962656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Q4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0" name="Band 30"/>
          <p:cNvSpPr/>
          <p:nvPr/>
        </p:nvSpPr>
        <p:spPr>
          <a:xfrm>
            <a:off x="1783080" y="2898648"/>
            <a:ext cx="15087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1856232" y="2962656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3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2" name="Band 32"/>
          <p:cNvSpPr/>
          <p:nvPr/>
        </p:nvSpPr>
        <p:spPr>
          <a:xfrm>
            <a:off x="3291840" y="2898648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3364992" y="2962656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SQL, SQL, IR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4" name="Band 34"/>
          <p:cNvSpPr/>
          <p:nvPr/>
        </p:nvSpPr>
        <p:spPr>
          <a:xfrm>
            <a:off x="685800" y="3337560"/>
            <a:ext cx="109728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758952" y="3401568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Q5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6" name="Band 36"/>
          <p:cNvSpPr/>
          <p:nvPr/>
        </p:nvSpPr>
        <p:spPr>
          <a:xfrm>
            <a:off x="1783080" y="3337560"/>
            <a:ext cx="150876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1856232" y="3401568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2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8" name="Band 38"/>
          <p:cNvSpPr/>
          <p:nvPr/>
        </p:nvSpPr>
        <p:spPr>
          <a:xfrm>
            <a:off x="3291840" y="3337560"/>
            <a:ext cx="374904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3364992" y="3401568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SQL, General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0" name="Band 40"/>
          <p:cNvSpPr/>
          <p:nvPr/>
        </p:nvSpPr>
        <p:spPr>
          <a:xfrm>
            <a:off x="685800" y="3776472"/>
            <a:ext cx="10972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758952" y="3840480"/>
            <a:ext cx="95097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Q6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2" name="Band 42"/>
          <p:cNvSpPr/>
          <p:nvPr/>
        </p:nvSpPr>
        <p:spPr>
          <a:xfrm>
            <a:off x="1783080" y="3776472"/>
            <a:ext cx="15087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1856232" y="3840480"/>
            <a:ext cx="136245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8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4" name="Band 44"/>
          <p:cNvSpPr/>
          <p:nvPr/>
        </p:nvSpPr>
        <p:spPr>
          <a:xfrm>
            <a:off x="3291840" y="3776472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3364992" y="3840480"/>
            <a:ext cx="3602736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8 IRs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46" name="Image 46" descr="fig3c_subquery_verific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673912"/>
            <a:ext cx="4480560" cy="1772815"/>
          </a:xfrm>
          <a:prstGeom prst="rect">
            <a:avLst/>
          </a:prstGeom>
        </p:spPr>
      </p:pic>
      <p:sp>
        <p:nvSpPr>
          <p:cNvPr id="47" name="Band 47"/>
          <p:cNvSpPr/>
          <p:nvPr/>
        </p:nvSpPr>
        <p:spPr>
          <a:xfrm>
            <a:off x="7086600" y="4343400"/>
            <a:ext cx="4160520" cy="868680"/>
          </a:xfrm>
          <a:prstGeom prst="rect">
            <a:avLst/>
          </a:prstGeom>
          <a:solidFill>
            <a:srgbClr val="F3FBF8"/>
          </a:solidFill>
          <a:ln w="9525">
            <a:solidFill>
              <a:srgbClr val="2A9D8F"/>
            </a:solidFill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7315200" y="452628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验证逻辑</a:t>
            </a:r>
            <a:endParaRPr lang="zh-CN" sz="105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" name="Text 49"/>
          <p:cNvSpPr txBox="1"/>
          <p:nvPr/>
        </p:nvSpPr>
        <p:spPr>
          <a:xfrm>
            <a:off x="7315200" y="4864608"/>
            <a:ext cx="3703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82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复合回答片段 ≈ 子问题单独回答</a:t>
            </a:r>
            <a:endParaRPr lang="zh-CN" sz="82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" name="Text 50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Table 1 and Fig. 3c,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" name="Text 51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量化结果显示语义一致性高，但复杂/图像任务较弱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822960" y="114300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SQL Queries</a:t>
            </a:r>
            <a:endParaRPr lang="zh-CN" sz="10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Band 5"/>
          <p:cNvSpPr/>
          <p:nvPr/>
        </p:nvSpPr>
        <p:spPr>
          <a:xfrm>
            <a:off x="2423160" y="1170432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Band 6"/>
          <p:cNvSpPr/>
          <p:nvPr/>
        </p:nvSpPr>
        <p:spPr>
          <a:xfrm>
            <a:off x="2423160" y="1170432"/>
            <a:ext cx="5215737" cy="10058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8183880" y="1161288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G-Eval 92.0%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2423160" y="1335024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and 9"/>
          <p:cNvSpPr/>
          <p:nvPr/>
        </p:nvSpPr>
        <p:spPr>
          <a:xfrm>
            <a:off x="2423160" y="1335024"/>
            <a:ext cx="5601248" cy="1005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8183880" y="1325880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P 98.8%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Band 11"/>
          <p:cNvSpPr/>
          <p:nvPr/>
        </p:nvSpPr>
        <p:spPr>
          <a:xfrm>
            <a:off x="2423160" y="1499616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Band 12"/>
          <p:cNvSpPr/>
          <p:nvPr/>
        </p:nvSpPr>
        <p:spPr>
          <a:xfrm>
            <a:off x="2423160" y="1499616"/>
            <a:ext cx="5595579" cy="100584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8183880" y="1490472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F1 98.7%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822960" y="198424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IR Queries</a:t>
            </a:r>
            <a:endParaRPr lang="zh-CN" sz="10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5" name="Band 15"/>
          <p:cNvSpPr/>
          <p:nvPr/>
        </p:nvSpPr>
        <p:spPr>
          <a:xfrm>
            <a:off x="2423160" y="2011680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Band 16"/>
          <p:cNvSpPr/>
          <p:nvPr/>
        </p:nvSpPr>
        <p:spPr>
          <a:xfrm>
            <a:off x="2423160" y="2011680"/>
            <a:ext cx="5113690" cy="10058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183880" y="2002536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G-Eval 90.2%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8" name="Band 18"/>
          <p:cNvSpPr/>
          <p:nvPr/>
        </p:nvSpPr>
        <p:spPr>
          <a:xfrm>
            <a:off x="2423160" y="2176272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Band 19"/>
          <p:cNvSpPr/>
          <p:nvPr/>
        </p:nvSpPr>
        <p:spPr>
          <a:xfrm>
            <a:off x="2423160" y="2176272"/>
            <a:ext cx="5533217" cy="1005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8183880" y="2167128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P 97.6%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1" name="Band 21"/>
          <p:cNvSpPr/>
          <p:nvPr/>
        </p:nvSpPr>
        <p:spPr>
          <a:xfrm>
            <a:off x="2423160" y="2340864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Band 22"/>
          <p:cNvSpPr/>
          <p:nvPr/>
        </p:nvSpPr>
        <p:spPr>
          <a:xfrm>
            <a:off x="2423160" y="2340864"/>
            <a:ext cx="5544555" cy="100584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183880" y="2331720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F1 97.8%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822960" y="282549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General QA</a:t>
            </a:r>
            <a:endParaRPr lang="zh-CN" sz="10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5" name="Band 25"/>
          <p:cNvSpPr/>
          <p:nvPr/>
        </p:nvSpPr>
        <p:spPr>
          <a:xfrm>
            <a:off x="2423160" y="2852928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Band 26"/>
          <p:cNvSpPr/>
          <p:nvPr/>
        </p:nvSpPr>
        <p:spPr>
          <a:xfrm>
            <a:off x="2423160" y="2852928"/>
            <a:ext cx="4762195" cy="10058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183880" y="2843784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G-Eval 84.0%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8" name="Band 28"/>
          <p:cNvSpPr/>
          <p:nvPr/>
        </p:nvSpPr>
        <p:spPr>
          <a:xfrm>
            <a:off x="2423160" y="3017520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Band 29"/>
          <p:cNvSpPr/>
          <p:nvPr/>
        </p:nvSpPr>
        <p:spPr>
          <a:xfrm>
            <a:off x="2423160" y="3017520"/>
            <a:ext cx="5425500" cy="1005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8183880" y="3008376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P 95.7%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1" name="Band 31"/>
          <p:cNvSpPr/>
          <p:nvPr/>
        </p:nvSpPr>
        <p:spPr>
          <a:xfrm>
            <a:off x="2423160" y="3182112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Band 32"/>
          <p:cNvSpPr/>
          <p:nvPr/>
        </p:nvSpPr>
        <p:spPr>
          <a:xfrm>
            <a:off x="2423160" y="3182112"/>
            <a:ext cx="5487863" cy="100584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183880" y="3172968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F1 96.8%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822960" y="366674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Image/Complex QA</a:t>
            </a:r>
            <a:endParaRPr lang="zh-CN" sz="10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5" name="Band 35"/>
          <p:cNvSpPr/>
          <p:nvPr/>
        </p:nvSpPr>
        <p:spPr>
          <a:xfrm>
            <a:off x="2423160" y="3694176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Band 36"/>
          <p:cNvSpPr/>
          <p:nvPr/>
        </p:nvSpPr>
        <p:spPr>
          <a:xfrm>
            <a:off x="2423160" y="3694176"/>
            <a:ext cx="4648809" cy="10058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8183880" y="3685032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G-Eval 82.0%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8" name="Band 38"/>
          <p:cNvSpPr/>
          <p:nvPr/>
        </p:nvSpPr>
        <p:spPr>
          <a:xfrm>
            <a:off x="2423160" y="3858768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Band 39"/>
          <p:cNvSpPr/>
          <p:nvPr/>
        </p:nvSpPr>
        <p:spPr>
          <a:xfrm>
            <a:off x="2423160" y="3858768"/>
            <a:ext cx="5108021" cy="1005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ext 40"/>
          <p:cNvSpPr txBox="1"/>
          <p:nvPr/>
        </p:nvSpPr>
        <p:spPr>
          <a:xfrm>
            <a:off x="8183880" y="3849624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P 90.1%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1" name="Band 41"/>
          <p:cNvSpPr/>
          <p:nvPr/>
        </p:nvSpPr>
        <p:spPr>
          <a:xfrm>
            <a:off x="2423160" y="4023360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Band 42"/>
          <p:cNvSpPr/>
          <p:nvPr/>
        </p:nvSpPr>
        <p:spPr>
          <a:xfrm>
            <a:off x="2423160" y="4023360"/>
            <a:ext cx="5210068" cy="100584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8183880" y="4014216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F1 91.9%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4" name="Text 44"/>
          <p:cNvSpPr txBox="1"/>
          <p:nvPr/>
        </p:nvSpPr>
        <p:spPr>
          <a:xfrm>
            <a:off x="822960" y="450799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Average</a:t>
            </a:r>
            <a:endParaRPr lang="zh-CN" sz="10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5" name="Band 45"/>
          <p:cNvSpPr/>
          <p:nvPr/>
        </p:nvSpPr>
        <p:spPr>
          <a:xfrm>
            <a:off x="2423160" y="4535424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Band 46"/>
          <p:cNvSpPr/>
          <p:nvPr/>
        </p:nvSpPr>
        <p:spPr>
          <a:xfrm>
            <a:off x="2423160" y="4535424"/>
            <a:ext cx="4937942" cy="10058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8183880" y="4526280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G-Eval 87.1%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8" name="Band 48"/>
          <p:cNvSpPr/>
          <p:nvPr/>
        </p:nvSpPr>
        <p:spPr>
          <a:xfrm>
            <a:off x="2423160" y="4700016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Band 49"/>
          <p:cNvSpPr/>
          <p:nvPr/>
        </p:nvSpPr>
        <p:spPr>
          <a:xfrm>
            <a:off x="2423160" y="4700016"/>
            <a:ext cx="5419831" cy="1005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8183880" y="4690872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P 95.6%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" name="Band 51"/>
          <p:cNvSpPr/>
          <p:nvPr/>
        </p:nvSpPr>
        <p:spPr>
          <a:xfrm>
            <a:off x="2423160" y="4864608"/>
            <a:ext cx="5669280" cy="1005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Band 52"/>
          <p:cNvSpPr/>
          <p:nvPr/>
        </p:nvSpPr>
        <p:spPr>
          <a:xfrm>
            <a:off x="2423160" y="4864608"/>
            <a:ext cx="5459516" cy="100584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8183880" y="4855464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2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BERT F1 96.3%</a:t>
            </a:r>
            <a:endParaRPr lang="zh-CN" sz="62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4" name="Band 54"/>
          <p:cNvSpPr/>
          <p:nvPr/>
        </p:nvSpPr>
        <p:spPr>
          <a:xfrm>
            <a:off x="8458200" y="1325880"/>
            <a:ext cx="2377440" cy="914400"/>
          </a:xfrm>
          <a:prstGeom prst="rect">
            <a:avLst/>
          </a:prstGeom>
          <a:solidFill>
            <a:srgbClr val="F3FBFC"/>
          </a:solidFill>
          <a:ln w="9525">
            <a:solidFill>
              <a:srgbClr val="177E89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8641080" y="148132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83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平均 G-Eval</a:t>
            </a:r>
            <a:endParaRPr lang="zh-CN" sz="83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6" name="Text 56"/>
          <p:cNvSpPr txBox="1"/>
          <p:nvPr/>
        </p:nvSpPr>
        <p:spPr>
          <a:xfrm>
            <a:off x="8641080" y="178308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20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87.1%</a:t>
            </a:r>
            <a:endParaRPr lang="zh-CN" sz="220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7" name="Band 57"/>
          <p:cNvSpPr/>
          <p:nvPr/>
        </p:nvSpPr>
        <p:spPr>
          <a:xfrm>
            <a:off x="8458200" y="2560320"/>
            <a:ext cx="2377440" cy="914400"/>
          </a:xfrm>
          <a:prstGeom prst="rect">
            <a:avLst/>
          </a:prstGeom>
          <a:solidFill>
            <a:srgbClr val="F3FBF8"/>
          </a:solidFill>
          <a:ln w="9525">
            <a:solidFill>
              <a:srgbClr val="2A9D8F"/>
            </a:solidFill>
          </a:ln>
        </p:spPr>
        <p:txBody>
          <a:bodyPr/>
          <a:lstStyle/>
          <a:p/>
        </p:txBody>
      </p:sp>
      <p:sp>
        <p:nvSpPr>
          <p:cNvPr id="58" name="Text 58"/>
          <p:cNvSpPr txBox="1"/>
          <p:nvPr/>
        </p:nvSpPr>
        <p:spPr>
          <a:xfrm>
            <a:off x="8641080" y="27157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78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平均 BERTScore F1</a:t>
            </a:r>
            <a:endParaRPr lang="zh-CN" sz="78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9" name="Text 59"/>
          <p:cNvSpPr txBox="1"/>
          <p:nvPr/>
        </p:nvSpPr>
        <p:spPr>
          <a:xfrm>
            <a:off x="8641080" y="301752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20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96.3%</a:t>
            </a:r>
            <a:endParaRPr lang="zh-CN" sz="220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0" name="Text 60"/>
          <p:cNvSpPr txBox="1"/>
          <p:nvPr/>
        </p:nvSpPr>
        <p:spPr>
          <a:xfrm>
            <a:off x="7909560" y="4251960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88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需要注意：23 个问题的 pilot study 规模较小，LLM-as-a-Judge 也可能引入评价偏差。</a:t>
            </a:r>
            <a:endParaRPr lang="zh-CN" sz="88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1" name="Text 61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Table 2,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2" name="Text 62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对比表明 A2A + MCP 的优势来自协议组合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Band 4"/>
          <p:cNvSpPr/>
          <p:nvPr/>
        </p:nvSpPr>
        <p:spPr>
          <a:xfrm>
            <a:off x="502920" y="1051560"/>
            <a:ext cx="2011680" cy="512064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76072" y="1115568"/>
            <a:ext cx="186537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维度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Band 6"/>
          <p:cNvSpPr/>
          <p:nvPr/>
        </p:nvSpPr>
        <p:spPr>
          <a:xfrm>
            <a:off x="2514600" y="1051560"/>
            <a:ext cx="1828800" cy="512064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2587752" y="1115568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MAS-0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4343400" y="1051560"/>
            <a:ext cx="1828800" cy="512064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4416552" y="1115568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A2A-only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Band 10"/>
          <p:cNvSpPr/>
          <p:nvPr/>
        </p:nvSpPr>
        <p:spPr>
          <a:xfrm>
            <a:off x="6172200" y="1051560"/>
            <a:ext cx="1828800" cy="512064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6245352" y="1115568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MCP-only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Band 12"/>
          <p:cNvSpPr/>
          <p:nvPr/>
        </p:nvSpPr>
        <p:spPr>
          <a:xfrm>
            <a:off x="8001000" y="1051560"/>
            <a:ext cx="3017520" cy="512064"/>
          </a:xfrm>
          <a:prstGeom prst="rect">
            <a:avLst/>
          </a:prstGeom>
          <a:solidFill>
            <a:srgbClr val="1E2D3B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8074152" y="1115568"/>
            <a:ext cx="2871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AgentMaster</a:t>
            </a:r>
            <a:endParaRPr lang="zh-CN" sz="76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Band 14"/>
          <p:cNvSpPr/>
          <p:nvPr/>
        </p:nvSpPr>
        <p:spPr>
          <a:xfrm>
            <a:off x="502920" y="1563624"/>
            <a:ext cx="201168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576072" y="1627632"/>
            <a:ext cx="186537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Memory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Band 16"/>
          <p:cNvSpPr/>
          <p:nvPr/>
        </p:nvSpPr>
        <p:spPr>
          <a:xfrm>
            <a:off x="2514600" y="1563624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2587752" y="1627632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limited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8" name="Band 18"/>
          <p:cNvSpPr/>
          <p:nvPr/>
        </p:nvSpPr>
        <p:spPr>
          <a:xfrm>
            <a:off x="4343400" y="1563624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4416552" y="1627632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flexible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0" name="Band 20"/>
          <p:cNvSpPr/>
          <p:nvPr/>
        </p:nvSpPr>
        <p:spPr>
          <a:xfrm>
            <a:off x="6172200" y="1563624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6245352" y="1627632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none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2" name="Band 22"/>
          <p:cNvSpPr/>
          <p:nvPr/>
        </p:nvSpPr>
        <p:spPr>
          <a:xfrm>
            <a:off x="8001000" y="1563624"/>
            <a:ext cx="301752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074152" y="1627632"/>
            <a:ext cx="2871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local + shared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4" name="Band 24"/>
          <p:cNvSpPr/>
          <p:nvPr/>
        </p:nvSpPr>
        <p:spPr>
          <a:xfrm>
            <a:off x="502920" y="2075688"/>
            <a:ext cx="20116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576072" y="2139696"/>
            <a:ext cx="186537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Coordination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6" name="Band 26"/>
          <p:cNvSpPr/>
          <p:nvPr/>
        </p:nvSpPr>
        <p:spPr>
          <a:xfrm>
            <a:off x="2514600" y="2075688"/>
            <a:ext cx="1828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2587752" y="2139696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static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8" name="Band 28"/>
          <p:cNvSpPr/>
          <p:nvPr/>
        </p:nvSpPr>
        <p:spPr>
          <a:xfrm>
            <a:off x="4343400" y="2075688"/>
            <a:ext cx="1828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4416552" y="2139696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dynamic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0" name="Band 30"/>
          <p:cNvSpPr/>
          <p:nvPr/>
        </p:nvSpPr>
        <p:spPr>
          <a:xfrm>
            <a:off x="6172200" y="2075688"/>
            <a:ext cx="1828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6245352" y="2139696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static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2" name="Band 32"/>
          <p:cNvSpPr/>
          <p:nvPr/>
        </p:nvSpPr>
        <p:spPr>
          <a:xfrm>
            <a:off x="8001000" y="2075688"/>
            <a:ext cx="30175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074152" y="2139696"/>
            <a:ext cx="2871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dynamic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4" name="Band 34"/>
          <p:cNvSpPr/>
          <p:nvPr/>
        </p:nvSpPr>
        <p:spPr>
          <a:xfrm>
            <a:off x="502920" y="2587752"/>
            <a:ext cx="201168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576072" y="2651760"/>
            <a:ext cx="186537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Inter-agent comm.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6" name="Band 36"/>
          <p:cNvSpPr/>
          <p:nvPr/>
        </p:nvSpPr>
        <p:spPr>
          <a:xfrm>
            <a:off x="2514600" y="2587752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2587752" y="2651760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weak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8" name="Band 38"/>
          <p:cNvSpPr/>
          <p:nvPr/>
        </p:nvSpPr>
        <p:spPr>
          <a:xfrm>
            <a:off x="4343400" y="2587752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4416552" y="2651760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strong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0" name="Band 40"/>
          <p:cNvSpPr/>
          <p:nvPr/>
        </p:nvSpPr>
        <p:spPr>
          <a:xfrm>
            <a:off x="6172200" y="2587752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6245352" y="2651760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weak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2" name="Band 42"/>
          <p:cNvSpPr/>
          <p:nvPr/>
        </p:nvSpPr>
        <p:spPr>
          <a:xfrm>
            <a:off x="8001000" y="2587752"/>
            <a:ext cx="301752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8074152" y="2651760"/>
            <a:ext cx="2871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strong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4" name="Band 44"/>
          <p:cNvSpPr/>
          <p:nvPr/>
        </p:nvSpPr>
        <p:spPr>
          <a:xfrm>
            <a:off x="502920" y="3099816"/>
            <a:ext cx="20116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576072" y="3163824"/>
            <a:ext cx="186537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Fallback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6" name="Band 46"/>
          <p:cNvSpPr/>
          <p:nvPr/>
        </p:nvSpPr>
        <p:spPr>
          <a:xfrm>
            <a:off x="2514600" y="3099816"/>
            <a:ext cx="1828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2587752" y="3163824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limited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8" name="Band 48"/>
          <p:cNvSpPr/>
          <p:nvPr/>
        </p:nvSpPr>
        <p:spPr>
          <a:xfrm>
            <a:off x="4343400" y="3099816"/>
            <a:ext cx="1828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4416552" y="3163824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adaptive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" name="Band 50"/>
          <p:cNvSpPr/>
          <p:nvPr/>
        </p:nvSpPr>
        <p:spPr>
          <a:xfrm>
            <a:off x="6172200" y="3099816"/>
            <a:ext cx="1828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1" name="Text 51"/>
          <p:cNvSpPr txBox="1"/>
          <p:nvPr/>
        </p:nvSpPr>
        <p:spPr>
          <a:xfrm>
            <a:off x="6245352" y="3163824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limited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2" name="Band 52"/>
          <p:cNvSpPr/>
          <p:nvPr/>
        </p:nvSpPr>
        <p:spPr>
          <a:xfrm>
            <a:off x="8001000" y="3099816"/>
            <a:ext cx="30175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8074152" y="3163824"/>
            <a:ext cx="2871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robust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4" name="Band 54"/>
          <p:cNvSpPr/>
          <p:nvPr/>
        </p:nvSpPr>
        <p:spPr>
          <a:xfrm>
            <a:off x="502920" y="3611880"/>
            <a:ext cx="201168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576072" y="3675888"/>
            <a:ext cx="186537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Architecture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6" name="Band 56"/>
          <p:cNvSpPr/>
          <p:nvPr/>
        </p:nvSpPr>
        <p:spPr>
          <a:xfrm>
            <a:off x="2514600" y="3611880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2587752" y="3675888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centralized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8" name="Band 58"/>
          <p:cNvSpPr/>
          <p:nvPr/>
        </p:nvSpPr>
        <p:spPr>
          <a:xfrm>
            <a:off x="4343400" y="3611880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59" name="Text 59"/>
          <p:cNvSpPr txBox="1"/>
          <p:nvPr/>
        </p:nvSpPr>
        <p:spPr>
          <a:xfrm>
            <a:off x="4416552" y="3675888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peer-to-peer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0" name="Band 60"/>
          <p:cNvSpPr/>
          <p:nvPr/>
        </p:nvSpPr>
        <p:spPr>
          <a:xfrm>
            <a:off x="6172200" y="3611880"/>
            <a:ext cx="182880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6245352" y="3675888"/>
            <a:ext cx="168249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centralized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2" name="Band 62"/>
          <p:cNvSpPr/>
          <p:nvPr/>
        </p:nvSpPr>
        <p:spPr>
          <a:xfrm>
            <a:off x="8001000" y="3611880"/>
            <a:ext cx="3017520" cy="512064"/>
          </a:xfrm>
          <a:prstGeom prst="rect">
            <a:avLst/>
          </a:prstGeom>
          <a:solidFill>
            <a:srgbClr val="F8FAFC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63" name="Text 63"/>
          <p:cNvSpPr txBox="1"/>
          <p:nvPr/>
        </p:nvSpPr>
        <p:spPr>
          <a:xfrm>
            <a:off x="8074152" y="3675888"/>
            <a:ext cx="2871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76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hybrid</a:t>
            </a:r>
            <a:endParaRPr lang="zh-CN" sz="76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4" name="Band 64"/>
          <p:cNvSpPr/>
          <p:nvPr/>
        </p:nvSpPr>
        <p:spPr>
          <a:xfrm>
            <a:off x="822960" y="5029200"/>
            <a:ext cx="10378440" cy="54864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ext 65"/>
          <p:cNvSpPr txBox="1"/>
          <p:nvPr/>
        </p:nvSpPr>
        <p:spPr>
          <a:xfrm>
            <a:off x="1051560" y="5175504"/>
            <a:ext cx="9921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93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结论：A2A 补上协作动态性，MCP 补上工具/上下文接口，组合后才形成可扩展的 MAS 工程骨架。</a:t>
            </a:r>
            <a:endParaRPr lang="zh-CN" sz="93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6" name="Text 66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Table 3,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7" name="Text 67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多模态能力来自专门代理，而不是单个大模型包打天下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Image 4" descr="image_agent_examp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06" y="960120"/>
            <a:ext cx="6559388" cy="4297680"/>
          </a:xfrm>
          <a:prstGeom prst="rect">
            <a:avLst/>
          </a:prstGeom>
        </p:spPr>
      </p:pic>
      <p:sp>
        <p:nvSpPr>
          <p:cNvPr id="5" name="Band 5"/>
          <p:cNvSpPr/>
          <p:nvPr/>
        </p:nvSpPr>
        <p:spPr>
          <a:xfrm>
            <a:off x="7498080" y="1188720"/>
            <a:ext cx="3657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772400" y="148132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这一页怎么读</a:t>
            </a:r>
            <a:endParaRPr lang="zh-CN" sz="1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7772400" y="1965960"/>
            <a:ext cx="306324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buFont typeface="Arial" panose="020B0604020202020204"/>
              <a:buChar char="•"/>
            </a:pPr>
            <a:r>
              <a:rPr lang="zh-CN" sz="90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图像问题交给 Image Agent</a:t>
            </a:r>
            <a:endParaRPr lang="zh-CN" sz="90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0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检索/数据库问题交给专门 agent</a:t>
            </a:r>
            <a:endParaRPr lang="zh-CN" sz="90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0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LLM 负责解释与合成</a:t>
            </a:r>
            <a:endParaRPr lang="zh-CN" sz="90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buFont typeface="Arial" panose="020B0604020202020204"/>
              <a:buChar char="•"/>
            </a:pPr>
            <a:r>
              <a:rPr lang="zh-CN" sz="90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最终质量仍依赖模型与语料</a:t>
            </a:r>
            <a:endParaRPr lang="zh-CN" sz="90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Appendix demo image agent example,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局限性提示：这更像可行性原型，而非充分验证的通用平台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822960" y="114300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5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评估规模</a:t>
            </a:r>
            <a:endParaRPr lang="zh-CN" sz="115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Band 5"/>
          <p:cNvSpPr/>
          <p:nvPr/>
        </p:nvSpPr>
        <p:spPr>
          <a:xfrm>
            <a:off x="2194560" y="1216152"/>
            <a:ext cx="8641080" cy="3657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2331720" y="1124712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23 个问题与 6 个复杂查询，pilot study 外推性有限。</a:t>
            </a:r>
            <a:endParaRPr lang="zh-CN" sz="10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822960" y="213055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5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路由错误</a:t>
            </a:r>
            <a:endParaRPr lang="zh-CN" sz="115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Band 8"/>
          <p:cNvSpPr/>
          <p:nvPr/>
        </p:nvSpPr>
        <p:spPr>
          <a:xfrm>
            <a:off x="2194560" y="2203704"/>
            <a:ext cx="8641080" cy="3657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2331720" y="2112264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单查询可能被误判为复杂查询，导致不必要拆解或不完整回答。</a:t>
            </a:r>
            <a:endParaRPr lang="zh-CN" sz="10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822960" y="3118104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5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协作深度</a:t>
            </a:r>
            <a:endParaRPr lang="zh-CN" sz="115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Band 11"/>
          <p:cNvSpPr/>
          <p:nvPr/>
        </p:nvSpPr>
        <p:spPr>
          <a:xfrm>
            <a:off x="2194560" y="3191256"/>
            <a:ext cx="8641080" cy="3657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2331720" y="3099816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作者承认 inter-agent collaboration 仍有限。</a:t>
            </a:r>
            <a:endParaRPr lang="zh-CN" sz="10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822960" y="410565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50" b="1">
                <a:solidFill>
                  <a:srgbClr val="E56B6F"/>
                </a:solidFill>
                <a:latin typeface="Arial" panose="020B0604020202020204"/>
                <a:ea typeface="微软雅黑" panose="020B0503020204020204" charset="-122"/>
              </a:rPr>
              <a:t>安全缺口</a:t>
            </a:r>
            <a:endParaRPr lang="zh-CN" sz="1150" b="1">
              <a:solidFill>
                <a:srgbClr val="E56B6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Band 14"/>
          <p:cNvSpPr/>
          <p:nvPr/>
        </p:nvSpPr>
        <p:spPr>
          <a:xfrm>
            <a:off x="2194560" y="4178808"/>
            <a:ext cx="8641080" cy="36576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2331720" y="408736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030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当前框架缺少成熟的信息存储与使用安全防护。</a:t>
            </a:r>
            <a:endParaRPr lang="zh-CN" sz="1030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" name="Band 16"/>
          <p:cNvSpPr/>
          <p:nvPr/>
        </p:nvSpPr>
        <p:spPr>
          <a:xfrm>
            <a:off x="822960" y="5486400"/>
            <a:ext cx="10332720" cy="475488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1051560" y="5614416"/>
            <a:ext cx="9829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900" b="1">
                <a:solidFill>
                  <a:srgbClr val="E56B6F"/>
                </a:solidFill>
                <a:latin typeface="Arial" panose="020B0604020202020204"/>
                <a:ea typeface="微软雅黑" panose="020B0503020204020204" charset="-122"/>
              </a:rPr>
              <a:t>组会追问：协议互操作性增强后，安全边界、身份认证、权限隔离和日志审计如何设计？</a:t>
            </a:r>
            <a:endParaRPr lang="zh-CN" sz="900" b="1">
              <a:solidFill>
                <a:srgbClr val="E56B6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Limitations section, Liao et al., EMNLP 2025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201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2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汇报结论：AgentMaster 的价值在协议化多智能体工程</a:t>
            </a:r>
            <a:endParaRPr lang="zh-CN" sz="22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Band 3"/>
          <p:cNvSpPr/>
          <p:nvPr/>
        </p:nvSpPr>
        <p:spPr>
          <a:xfrm>
            <a:off x="411480" y="694944"/>
            <a:ext cx="914400" cy="3200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822960" y="114300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500" b="1">
                <a:solidFill>
                  <a:srgbClr val="1E2D3B"/>
                </a:solidFill>
                <a:latin typeface="Arial" panose="020B0604020202020204"/>
                <a:ea typeface="微软雅黑" panose="020B0503020204020204" charset="-122"/>
              </a:rPr>
              <a:t>三句话带走</a:t>
            </a:r>
            <a:endParaRPr lang="zh-CN" sz="1500" b="1">
              <a:solidFill>
                <a:srgbClr val="1E2D3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960120" y="182880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300" b="1">
                <a:solidFill>
                  <a:srgbClr val="177E89"/>
                </a:solidFill>
                <a:latin typeface="Arial" panose="020B0604020202020204"/>
                <a:ea typeface="微软雅黑" panose="020B0503020204020204" charset="-122"/>
              </a:rPr>
              <a:t>01</a:t>
            </a:r>
            <a:endParaRPr lang="zh-CN" sz="1300" b="1">
              <a:solidFill>
                <a:srgbClr val="177E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1828800" y="1828800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A2A + MCP 给 MAS 提供了通信与工具上下文的双协议骨架。</a:t>
            </a:r>
            <a:endParaRPr lang="zh-CN" sz="12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960120" y="278892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300" b="1">
                <a:solidFill>
                  <a:srgbClr val="2A9D8F"/>
                </a:solidFill>
                <a:latin typeface="Arial" panose="020B0604020202020204"/>
                <a:ea typeface="微软雅黑" panose="020B0503020204020204" charset="-122"/>
              </a:rPr>
              <a:t>02</a:t>
            </a:r>
            <a:endParaRPr lang="zh-CN" sz="1300" b="1">
              <a:solidFill>
                <a:srgbClr val="2A9D8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1828800" y="2788920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系统演示显示它能完成复杂查询拆解、动态路由与多模态检索。</a:t>
            </a:r>
            <a:endParaRPr lang="zh-CN" sz="12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960120" y="374904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300" b="1">
                <a:solidFill>
                  <a:srgbClr val="E56B6F"/>
                </a:solidFill>
                <a:latin typeface="Arial" panose="020B0604020202020204"/>
                <a:ea typeface="微软雅黑" panose="020B0503020204020204" charset="-122"/>
              </a:rPr>
              <a:t>03</a:t>
            </a:r>
            <a:endParaRPr lang="zh-CN" sz="1300" b="1">
              <a:solidFill>
                <a:srgbClr val="E56B6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1828800" y="3749040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50" b="1">
                <a:solidFill>
                  <a:srgbClr val="1F2933"/>
                </a:solidFill>
                <a:latin typeface="Arial" panose="020B0604020202020204"/>
                <a:ea typeface="微软雅黑" panose="020B0503020204020204" charset="-122"/>
              </a:rPr>
              <a:t>证据仍偏 pilot：评价规模、安全机制和协作深度是后续关键。</a:t>
            </a:r>
            <a:endParaRPr lang="zh-CN" sz="1250" b="1">
              <a:solidFill>
                <a:srgbClr val="1F293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Band 11"/>
          <p:cNvSpPr/>
          <p:nvPr/>
        </p:nvSpPr>
        <p:spPr>
          <a:xfrm>
            <a:off x="1051560" y="5349240"/>
            <a:ext cx="9875520" cy="530352"/>
          </a:xfrm>
          <a:prstGeom prst="rect">
            <a:avLst/>
          </a:prstGeom>
          <a:solidFill>
            <a:srgbClr val="1E2D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1234440" y="5486400"/>
            <a:ext cx="9509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84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讨论入口：在 A2A/MCP 系统中，benchmark 应该评估最终答案，还是同时评估任务分解、路由、权限和可追溯性？</a:t>
            </a:r>
            <a:endParaRPr lang="zh-CN" sz="84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411480" y="6510528"/>
            <a:ext cx="7955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Source: Liao et al., EMNLP 2025 System Demonstrations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10789920" y="651052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zh-CN" sz="650">
                <a:solidFill>
                  <a:srgbClr val="637083"/>
                </a:solidFill>
                <a:latin typeface="Arial" panose="020B0604020202020204"/>
                <a:ea typeface="微软雅黑" panose="020B0503020204020204" charset="-122"/>
              </a:rPr>
              <a:t>AgentMaster 组会汇报</a:t>
            </a:r>
            <a:endParaRPr lang="zh-CN" sz="650">
              <a:solidFill>
                <a:srgbClr val="63708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MasterTheme">
  <a:themeElements>
    <a:clrScheme name="Custom">
      <a:dk1>
        <a:srgbClr val="1E2D3B"/>
      </a:dk1>
      <a:lt1>
        <a:srgbClr val="FFFFFF"/>
      </a:lt1>
      <a:dk2>
        <a:srgbClr val="1F2933"/>
      </a:dk2>
      <a:lt2>
        <a:srgbClr val="F6F8FA"/>
      </a:lt2>
      <a:accent1>
        <a:srgbClr val="177E89"/>
      </a:accent1>
      <a:accent2>
        <a:srgbClr val="2A9D8F"/>
      </a:accent2>
      <a:accent3>
        <a:srgbClr val="E9B44C"/>
      </a:accent3>
      <a:accent4>
        <a:srgbClr val="E56B6F"/>
      </a:accent4>
      <a:accent5>
        <a:srgbClr val="637083"/>
      </a:accent5>
      <a:accent6>
        <a:srgbClr val="D7DEE8"/>
      </a:accent6>
      <a:hlink>
        <a:srgbClr val="177E89"/>
      </a:hlink>
      <a:folHlink>
        <a:srgbClr val="E56B6F"/>
      </a:folHlink>
    </a:clrScheme>
    <a:fontScheme name="Custom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Custom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3334</Words>
  <Application>WPS 演示</Application>
  <PresentationFormat>On-screen Show (16:9)</PresentationFormat>
  <Paragraphs>382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AgentMasterTheme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AgentMaster group meeting presentation</dc:title>
  <dc:creator>Codex</dc:creator>
  <cp:lastModifiedBy>魏金涛</cp:lastModifiedBy>
  <cp:revision>3</cp:revision>
  <dcterms:created xsi:type="dcterms:W3CDTF">2026-07-07T06:14:00Z</dcterms:created>
  <dcterms:modified xsi:type="dcterms:W3CDTF">2026-07-07T10:41:51Z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0CE22572A22A4C6CA85AA2FAE7A5300B_12</vt:lpwstr>
  </property>
  <property fmtid="{D5CDD505-2E9C-101B-9397-08002B2CF9AE}" pid="3" name="KSOProductBuildVer">
    <vt:lpwstr>2052-12.1.0.26895</vt:lpwstr>
  </property>
</Properties>
</file>